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Roboto" panose="02000000000000000000" pitchFamily="2" charset="0"/>
      <p:regular r:id="rId13"/>
    </p:embeddedFont>
    <p:embeddedFont>
      <p:font typeface="Roboto Slab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30" y="53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3F465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1743740"/>
            <a:ext cx="7556421" cy="1658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Task 4: Data Storytelling &amp; Statistical Validation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8959594" y="4061637"/>
            <a:ext cx="4681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Data Analytics Intern • ApexPlanet</a:t>
            </a:r>
            <a:endParaRPr lang="en-US" sz="1750" dirty="0"/>
          </a:p>
        </p:txBody>
      </p:sp>
      <p:sp>
        <p:nvSpPr>
          <p:cNvPr id="6" name="TextBox 5"/>
          <p:cNvSpPr txBox="1"/>
          <p:nvPr/>
        </p:nvSpPr>
        <p:spPr>
          <a:xfrm>
            <a:off x="8761228" y="3402419"/>
            <a:ext cx="4880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>
                    <a:lumMod val="85000"/>
                  </a:schemeClr>
                </a:solidFill>
              </a:rPr>
              <a:t>Presented by- Shwet Kamal Jha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35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3F465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3452813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639860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0604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Primary Objective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0604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Superstore sales data to identify key factors affecting revenue and profit margins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3F465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776" y="3452813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3639860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43776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Goal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43776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business performance using data-driven insights and statistical validation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3225998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3F4652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6948" y="3452813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3639860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66948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Scope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66948" y="4850487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analysis of 9,994 sales records across categories, regions, and customer segments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8725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Overview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21630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Source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9981" y="2744152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Superstore sales dataset containing 9,994 records with comprehensive transaction details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59981" y="36967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Columns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559981" y="4277916"/>
            <a:ext cx="828413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 (Technology, Furniture, Office Supplies)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 (West, East, Central, South)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amount and Profit margin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Name and transaction details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559981" y="61942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559981" y="6775371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values handled, duplicate records removed, and data quality verified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9292"/>
            <a:ext cx="120934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Findings from Exploratory Data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75046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36.4%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2565916" y="3306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Sales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79726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Leading category with highest revenue contribution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56884" y="2275046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32.3%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9229130" y="33068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Furniture Sales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456884" y="3797260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highest sales but very low profitability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4727138"/>
            <a:ext cx="6379607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50.8%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2565916" y="57589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Profit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3790" y="624935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profitable segment driving overall margins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56884" y="4727138"/>
            <a:ext cx="6379726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6.4%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9229130" y="57589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Furniture Profit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56884" y="624935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Significantly underperforming despite strong sales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68674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10 customers contribute approximately 6.7% of total revenue, indicating moderate concentration in customer base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3F465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3" y="161449"/>
            <a:ext cx="5271135" cy="79067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648176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Visual Insights from Data Analysis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6280190" y="2302073"/>
            <a:ext cx="7556421" cy="1623298"/>
          </a:xfrm>
          <a:prstGeom prst="roundRect">
            <a:avLst>
              <a:gd name="adj" fmla="val 9013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2302073"/>
            <a:ext cx="121920" cy="16232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7494" y="2547938"/>
            <a:ext cx="283547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Category Performance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6617494" y="3007281"/>
            <a:ext cx="69732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 leads in both sales volume and profit margins, demonstrating strong market positioning and efficient operations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6280190" y="4130040"/>
            <a:ext cx="7556421" cy="1623298"/>
          </a:xfrm>
          <a:prstGeom prst="roundRect">
            <a:avLst>
              <a:gd name="adj" fmla="val 9013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4130040"/>
            <a:ext cx="121920" cy="16232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7494" y="4375904"/>
            <a:ext cx="270248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Regional Distribution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6617494" y="4835247"/>
            <a:ext cx="69732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 region contributes 37.9% of total profit, followed by East region at 32%, indicating regional market strength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6280190" y="5958007"/>
            <a:ext cx="7556421" cy="1623298"/>
          </a:xfrm>
          <a:prstGeom prst="roundRect">
            <a:avLst>
              <a:gd name="adj" fmla="val 9013"/>
            </a:avLst>
          </a:prstGeom>
          <a:solidFill>
            <a:srgbClr val="202733"/>
          </a:solidFill>
          <a:ln w="30480">
            <a:solidFill>
              <a:srgbClr val="585F6B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9710" y="5958007"/>
            <a:ext cx="121920" cy="162329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7494" y="620387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Profit Imbalance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6617494" y="6663214"/>
            <a:ext cx="6973253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 shows high sales but minimal profit, signaling potential pricing or cost structure issues requiring immediate attention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8228"/>
            <a:ext cx="72500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Strategic Business Insights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3180636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3180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Critical Concern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671054"/>
            <a:ext cx="3308152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 category exhibits poor profitability despite solid sales performance, suggesting underlying cost or pricing strategy problems that need resolution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180636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86356" y="3180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Strength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086356" y="3671054"/>
            <a:ext cx="330815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 category demonstrates exceptional efficiency and profitability, representing the company's most valuable business segment and competitive advantage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3180636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8459" y="318063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528459" y="3671054"/>
            <a:ext cx="330815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 region shows strongest performance with 37.9% profit contribution, presenting clear expansion and marketing investment opportunities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85562"/>
            <a:ext cx="7543562" cy="662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Actionable Recommendations</a:t>
            </a:r>
            <a:endParaRPr lang="en-US" sz="4150" dirty="0"/>
          </a:p>
        </p:txBody>
      </p:sp>
      <p:sp>
        <p:nvSpPr>
          <p:cNvPr id="3" name="Shape 1"/>
          <p:cNvSpPr/>
          <p:nvPr/>
        </p:nvSpPr>
        <p:spPr>
          <a:xfrm>
            <a:off x="1099542" y="2275284"/>
            <a:ext cx="6116360" cy="212050"/>
          </a:xfrm>
          <a:prstGeom prst="roundRect">
            <a:avLst>
              <a:gd name="adj" fmla="val 15005"/>
            </a:avLst>
          </a:prstGeom>
          <a:solidFill>
            <a:srgbClr val="3F4652"/>
          </a:solidFill>
          <a:ln/>
        </p:spPr>
      </p:sp>
      <p:sp>
        <p:nvSpPr>
          <p:cNvPr id="4" name="Shape 2"/>
          <p:cNvSpPr/>
          <p:nvPr/>
        </p:nvSpPr>
        <p:spPr>
          <a:xfrm>
            <a:off x="781407" y="2063234"/>
            <a:ext cx="636270" cy="636270"/>
          </a:xfrm>
          <a:prstGeom prst="roundRect">
            <a:avLst>
              <a:gd name="adj" fmla="val 71856"/>
            </a:avLst>
          </a:prstGeom>
          <a:solidFill>
            <a:srgbClr val="3F465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475" y="2222302"/>
            <a:ext cx="318135" cy="3181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3458" y="2897862"/>
            <a:ext cx="2685217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Prioritize Technology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993458" y="3348157"/>
            <a:ext cx="6010513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Allocate more resources and marketing budget to Technology category to maximize profit generation and leverage existing strengths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732514" y="1957149"/>
            <a:ext cx="6116360" cy="212050"/>
          </a:xfrm>
          <a:prstGeom prst="roundRect">
            <a:avLst>
              <a:gd name="adj" fmla="val 15005"/>
            </a:avLst>
          </a:prstGeom>
          <a:solidFill>
            <a:srgbClr val="3F4652"/>
          </a:solidFill>
          <a:ln/>
        </p:spPr>
      </p:sp>
      <p:sp>
        <p:nvSpPr>
          <p:cNvPr id="9" name="Shape 6"/>
          <p:cNvSpPr/>
          <p:nvPr/>
        </p:nvSpPr>
        <p:spPr>
          <a:xfrm>
            <a:off x="7414379" y="1745099"/>
            <a:ext cx="636270" cy="636270"/>
          </a:xfrm>
          <a:prstGeom prst="roundRect">
            <a:avLst>
              <a:gd name="adj" fmla="val 71856"/>
            </a:avLst>
          </a:prstGeom>
          <a:solidFill>
            <a:srgbClr val="3F465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73447" y="1904167"/>
            <a:ext cx="318135" cy="3181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6429" y="2579727"/>
            <a:ext cx="265140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Optimize Furniture</a:t>
            </a:r>
            <a:endParaRPr lang="en-US" sz="2050" dirty="0"/>
          </a:p>
        </p:txBody>
      </p:sp>
      <p:sp>
        <p:nvSpPr>
          <p:cNvPr id="12" name="Text 8"/>
          <p:cNvSpPr/>
          <p:nvPr/>
        </p:nvSpPr>
        <p:spPr>
          <a:xfrm>
            <a:off x="7626429" y="3030022"/>
            <a:ext cx="6010513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Reevaluate pricing strategy and cost structure for Furniture category through detailed cost-benefit analysis and competitive benchmarking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1099542" y="5273873"/>
            <a:ext cx="6116360" cy="212050"/>
          </a:xfrm>
          <a:prstGeom prst="roundRect">
            <a:avLst>
              <a:gd name="adj" fmla="val 15005"/>
            </a:avLst>
          </a:prstGeom>
          <a:solidFill>
            <a:srgbClr val="3F4652"/>
          </a:solidFill>
          <a:ln/>
        </p:spPr>
      </p:sp>
      <p:sp>
        <p:nvSpPr>
          <p:cNvPr id="14" name="Shape 10"/>
          <p:cNvSpPr/>
          <p:nvPr/>
        </p:nvSpPr>
        <p:spPr>
          <a:xfrm>
            <a:off x="781407" y="5061823"/>
            <a:ext cx="636270" cy="636270"/>
          </a:xfrm>
          <a:prstGeom prst="roundRect">
            <a:avLst>
              <a:gd name="adj" fmla="val 71856"/>
            </a:avLst>
          </a:prstGeom>
          <a:solidFill>
            <a:srgbClr val="3F465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0475" y="5220891"/>
            <a:ext cx="318135" cy="3181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3458" y="5896451"/>
            <a:ext cx="265140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Expand Regions</a:t>
            </a:r>
            <a:endParaRPr lang="en-US" sz="2050" dirty="0"/>
          </a:p>
        </p:txBody>
      </p:sp>
      <p:sp>
        <p:nvSpPr>
          <p:cNvPr id="17" name="Text 12"/>
          <p:cNvSpPr/>
          <p:nvPr/>
        </p:nvSpPr>
        <p:spPr>
          <a:xfrm>
            <a:off x="993458" y="6346746"/>
            <a:ext cx="6010513" cy="98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operational expansion and marketing campaigns on West and East regions where historical performance demonstrates strongest returns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732514" y="4955738"/>
            <a:ext cx="6116360" cy="212050"/>
          </a:xfrm>
          <a:prstGeom prst="roundRect">
            <a:avLst>
              <a:gd name="adj" fmla="val 15005"/>
            </a:avLst>
          </a:prstGeom>
          <a:solidFill>
            <a:srgbClr val="3F4652"/>
          </a:solidFill>
          <a:ln/>
        </p:spPr>
      </p:sp>
      <p:sp>
        <p:nvSpPr>
          <p:cNvPr id="19" name="Shape 14"/>
          <p:cNvSpPr/>
          <p:nvPr/>
        </p:nvSpPr>
        <p:spPr>
          <a:xfrm>
            <a:off x="7414379" y="4743688"/>
            <a:ext cx="636270" cy="636270"/>
          </a:xfrm>
          <a:prstGeom prst="roundRect">
            <a:avLst>
              <a:gd name="adj" fmla="val 71856"/>
            </a:avLst>
          </a:prstGeom>
          <a:solidFill>
            <a:srgbClr val="3F4652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73447" y="4902756"/>
            <a:ext cx="318135" cy="3181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6429" y="5578316"/>
            <a:ext cx="2651403" cy="331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Retention</a:t>
            </a:r>
            <a:endParaRPr lang="en-US" sz="2050" dirty="0"/>
          </a:p>
        </p:txBody>
      </p:sp>
      <p:sp>
        <p:nvSpPr>
          <p:cNvPr id="22" name="Text 16"/>
          <p:cNvSpPr/>
          <p:nvPr/>
        </p:nvSpPr>
        <p:spPr>
          <a:xfrm>
            <a:off x="7626429" y="6028611"/>
            <a:ext cx="6010513" cy="656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targeted loyalty programs and personalized offers for top 10% of customers who generate 6.7% of total revenue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56511"/>
            <a:ext cx="7447121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Hypothesis Testing Methodology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3057049" y="165818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Null Hypothesis (H₀)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44260" y="2118598"/>
            <a:ext cx="7017901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 is no significant difference in profit margins across different product categories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709267" y="2844403"/>
            <a:ext cx="3087886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Alternative Hypothesis (H₁)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44260" y="3304818"/>
            <a:ext cx="7017901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There is a significant difference in profit margins across different product categories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57049" y="403062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Testing Approach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44260" y="4491038"/>
            <a:ext cx="7017901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Statistical comparison performed using appropriate variance analysis techniques on categorized profit distributions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57049" y="521684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Observation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44260" y="5677257"/>
            <a:ext cx="7017901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variation in profit distribution observed across Technology, Furniture, and Office Supplies categories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57049" y="640306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44260" y="6863477"/>
            <a:ext cx="7017901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Statistical evidence supports rejection of null hypothesis—business performance varies significantly by product category</a:t>
            </a:r>
            <a:endParaRPr lang="en-US" sz="15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6744" y="1678305"/>
            <a:ext cx="5091232" cy="509123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56429"/>
            <a:ext cx="102496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Conclusion: Data-Driven Path Forward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18836"/>
            <a:ext cx="6521410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Profit Imbalance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3743325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Analysis reveals major disparity in profitability across product categories requiring strategic intervention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18836"/>
            <a:ext cx="652141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42014" y="3252907"/>
            <a:ext cx="30894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Technology Excellence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42014" y="3743325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 segment drives profitability while Furniture underperforms despite sales volume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695944"/>
            <a:ext cx="6521410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0604" y="5830014"/>
            <a:ext cx="30008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Strategic Optimization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20604" y="632043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Region-based strategy combined with category optimization can substantially improve overall business performance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695944"/>
            <a:ext cx="6521410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42014" y="58300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Growth Imperative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42014" y="6320433"/>
            <a:ext cx="60677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decision making is essential for sustainable growth and competitive advantage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3F465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170021"/>
            <a:ext cx="5259705" cy="78895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745343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</a:t>
            </a:r>
            <a:endParaRPr lang="en-US" sz="8900" dirty="0"/>
          </a:p>
        </p:txBody>
      </p:sp>
      <p:sp>
        <p:nvSpPr>
          <p:cNvPr id="5" name="Text 2"/>
          <p:cNvSpPr/>
          <p:nvPr/>
        </p:nvSpPr>
        <p:spPr>
          <a:xfrm>
            <a:off x="7937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Shwet </a:t>
            </a:r>
            <a:r>
              <a:rPr lang="en-US" sz="175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Kamal Jha . 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Analytics Intern • ApexPlanet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 and discussion welcome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564</Words>
  <Application>Microsoft Office PowerPoint</Application>
  <PresentationFormat>Custom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Roboto</vt:lpstr>
      <vt:lpstr>Roboto Slab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ROHAN JHA</dc:creator>
  <cp:lastModifiedBy>shwet kamal jha</cp:lastModifiedBy>
  <cp:revision>5</cp:revision>
  <dcterms:created xsi:type="dcterms:W3CDTF">2026-04-19T13:29:47Z</dcterms:created>
  <dcterms:modified xsi:type="dcterms:W3CDTF">2026-06-23T17:01:52Z</dcterms:modified>
</cp:coreProperties>
</file>